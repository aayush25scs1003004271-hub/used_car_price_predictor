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72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DDDE59-F3D9-4CA4-B21B-49DE555BFEAE}" v="7" dt="2026-04-28T05:13:39.6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YUSH SINGH" userId="62f14ec854ae5da0" providerId="LiveId" clId="{87F00338-0600-49C2-B9FB-8B047CF8579B}"/>
    <pc:docChg chg="custSel addSld delSld modSld">
      <pc:chgData name="AAYUSH SINGH" userId="62f14ec854ae5da0" providerId="LiveId" clId="{87F00338-0600-49C2-B9FB-8B047CF8579B}" dt="2026-04-28T05:13:34.791" v="135" actId="14100"/>
      <pc:docMkLst>
        <pc:docMk/>
      </pc:docMkLst>
      <pc:sldChg chg="modSp mod">
        <pc:chgData name="AAYUSH SINGH" userId="62f14ec854ae5da0" providerId="LiveId" clId="{87F00338-0600-49C2-B9FB-8B047CF8579B}" dt="2026-04-28T04:53:41.445" v="13" actId="113"/>
        <pc:sldMkLst>
          <pc:docMk/>
          <pc:sldMk cId="0" sldId="256"/>
        </pc:sldMkLst>
        <pc:spChg chg="mod">
          <ac:chgData name="AAYUSH SINGH" userId="62f14ec854ae5da0" providerId="LiveId" clId="{87F00338-0600-49C2-B9FB-8B047CF8579B}" dt="2026-04-28T04:52:54.970" v="9" actId="14100"/>
          <ac:spMkLst>
            <pc:docMk/>
            <pc:sldMk cId="0" sldId="256"/>
            <ac:spMk id="3" creationId="{00000000-0000-0000-0000-000000000000}"/>
          </ac:spMkLst>
        </pc:spChg>
        <pc:spChg chg="mod">
          <ac:chgData name="AAYUSH SINGH" userId="62f14ec854ae5da0" providerId="LiveId" clId="{87F00338-0600-49C2-B9FB-8B047CF8579B}" dt="2026-04-28T04:52:44.839" v="8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AAYUSH SINGH" userId="62f14ec854ae5da0" providerId="LiveId" clId="{87F00338-0600-49C2-B9FB-8B047CF8579B}" dt="2026-04-28T04:53:23.063" v="11" actId="255"/>
          <ac:spMkLst>
            <pc:docMk/>
            <pc:sldMk cId="0" sldId="256"/>
            <ac:spMk id="23" creationId="{00000000-0000-0000-0000-000000000000}"/>
          </ac:spMkLst>
        </pc:spChg>
        <pc:spChg chg="mod">
          <ac:chgData name="AAYUSH SINGH" userId="62f14ec854ae5da0" providerId="LiveId" clId="{87F00338-0600-49C2-B9FB-8B047CF8579B}" dt="2026-04-28T04:53:41.445" v="13" actId="113"/>
          <ac:spMkLst>
            <pc:docMk/>
            <pc:sldMk cId="0" sldId="256"/>
            <ac:spMk id="24" creationId="{00000000-0000-0000-0000-000000000000}"/>
          </ac:spMkLst>
        </pc:spChg>
      </pc:sldChg>
      <pc:sldChg chg="modSp mod">
        <pc:chgData name="AAYUSH SINGH" userId="62f14ec854ae5da0" providerId="LiveId" clId="{87F00338-0600-49C2-B9FB-8B047CF8579B}" dt="2026-04-28T04:54:11.048" v="23" actId="20577"/>
        <pc:sldMkLst>
          <pc:docMk/>
          <pc:sldMk cId="0" sldId="258"/>
        </pc:sldMkLst>
        <pc:spChg chg="mod">
          <ac:chgData name="AAYUSH SINGH" userId="62f14ec854ae5da0" providerId="LiveId" clId="{87F00338-0600-49C2-B9FB-8B047CF8579B}" dt="2026-04-28T04:54:11.048" v="23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AAYUSH SINGH" userId="62f14ec854ae5da0" providerId="LiveId" clId="{87F00338-0600-49C2-B9FB-8B047CF8579B}" dt="2026-04-28T04:54:16.854" v="28" actId="20577"/>
        <pc:sldMkLst>
          <pc:docMk/>
          <pc:sldMk cId="0" sldId="259"/>
        </pc:sldMkLst>
        <pc:spChg chg="mod">
          <ac:chgData name="AAYUSH SINGH" userId="62f14ec854ae5da0" providerId="LiveId" clId="{87F00338-0600-49C2-B9FB-8B047CF8579B}" dt="2026-04-28T04:54:16.854" v="28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AAYUSH SINGH" userId="62f14ec854ae5da0" providerId="LiveId" clId="{87F00338-0600-49C2-B9FB-8B047CF8579B}" dt="2026-04-28T04:54:02.787" v="18" actId="20577"/>
        <pc:sldMkLst>
          <pc:docMk/>
          <pc:sldMk cId="0" sldId="260"/>
        </pc:sldMkLst>
        <pc:spChg chg="mod">
          <ac:chgData name="AAYUSH SINGH" userId="62f14ec854ae5da0" providerId="LiveId" clId="{87F00338-0600-49C2-B9FB-8B047CF8579B}" dt="2026-04-28T04:54:02.787" v="18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AAYUSH SINGH" userId="62f14ec854ae5da0" providerId="LiveId" clId="{87F00338-0600-49C2-B9FB-8B047CF8579B}" dt="2026-04-28T04:58:55.293" v="101" actId="20577"/>
        <pc:sldMkLst>
          <pc:docMk/>
          <pc:sldMk cId="0" sldId="261"/>
        </pc:sldMkLst>
        <pc:spChg chg="mod">
          <ac:chgData name="AAYUSH SINGH" userId="62f14ec854ae5da0" providerId="LiveId" clId="{87F00338-0600-49C2-B9FB-8B047CF8579B}" dt="2026-04-28T04:54:23.532" v="33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AAYUSH SINGH" userId="62f14ec854ae5da0" providerId="LiveId" clId="{87F00338-0600-49C2-B9FB-8B047CF8579B}" dt="2026-04-28T04:57:36.853" v="98" actId="1076"/>
          <ac:spMkLst>
            <pc:docMk/>
            <pc:sldMk cId="0" sldId="261"/>
            <ac:spMk id="37" creationId="{00000000-0000-0000-0000-000000000000}"/>
          </ac:spMkLst>
        </pc:spChg>
        <pc:spChg chg="mod">
          <ac:chgData name="AAYUSH SINGH" userId="62f14ec854ae5da0" providerId="LiveId" clId="{87F00338-0600-49C2-B9FB-8B047CF8579B}" dt="2026-04-28T04:58:55.293" v="101" actId="20577"/>
          <ac:spMkLst>
            <pc:docMk/>
            <pc:sldMk cId="0" sldId="261"/>
            <ac:spMk id="41" creationId="{00000000-0000-0000-0000-000000000000}"/>
          </ac:spMkLst>
        </pc:spChg>
        <pc:spChg chg="mod">
          <ac:chgData name="AAYUSH SINGH" userId="62f14ec854ae5da0" providerId="LiveId" clId="{87F00338-0600-49C2-B9FB-8B047CF8579B}" dt="2026-04-28T04:57:41.609" v="99" actId="1076"/>
          <ac:spMkLst>
            <pc:docMk/>
            <pc:sldMk cId="0" sldId="261"/>
            <ac:spMk id="44" creationId="{00000000-0000-0000-0000-000000000000}"/>
          </ac:spMkLst>
        </pc:spChg>
      </pc:sldChg>
      <pc:sldChg chg="modSp mod">
        <pc:chgData name="AAYUSH SINGH" userId="62f14ec854ae5da0" providerId="LiveId" clId="{87F00338-0600-49C2-B9FB-8B047CF8579B}" dt="2026-04-28T04:54:27.916" v="38" actId="20577"/>
        <pc:sldMkLst>
          <pc:docMk/>
          <pc:sldMk cId="0" sldId="262"/>
        </pc:sldMkLst>
        <pc:spChg chg="mod">
          <ac:chgData name="AAYUSH SINGH" userId="62f14ec854ae5da0" providerId="LiveId" clId="{87F00338-0600-49C2-B9FB-8B047CF8579B}" dt="2026-04-28T04:54:27.916" v="38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AAYUSH SINGH" userId="62f14ec854ae5da0" providerId="LiveId" clId="{87F00338-0600-49C2-B9FB-8B047CF8579B}" dt="2026-04-28T04:54:32.561" v="43" actId="20577"/>
        <pc:sldMkLst>
          <pc:docMk/>
          <pc:sldMk cId="0" sldId="263"/>
        </pc:sldMkLst>
        <pc:spChg chg="mod">
          <ac:chgData name="AAYUSH SINGH" userId="62f14ec854ae5da0" providerId="LiveId" clId="{87F00338-0600-49C2-B9FB-8B047CF8579B}" dt="2026-04-28T04:54:32.561" v="43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AAYUSH SINGH" userId="62f14ec854ae5da0" providerId="LiveId" clId="{87F00338-0600-49C2-B9FB-8B047CF8579B}" dt="2026-04-28T04:54:38.915" v="48" actId="20577"/>
        <pc:sldMkLst>
          <pc:docMk/>
          <pc:sldMk cId="0" sldId="264"/>
        </pc:sldMkLst>
        <pc:spChg chg="mod">
          <ac:chgData name="AAYUSH SINGH" userId="62f14ec854ae5da0" providerId="LiveId" clId="{87F00338-0600-49C2-B9FB-8B047CF8579B}" dt="2026-04-28T04:54:38.915" v="48" actId="20577"/>
          <ac:spMkLst>
            <pc:docMk/>
            <pc:sldMk cId="0" sldId="264"/>
            <ac:spMk id="3" creationId="{00000000-0000-0000-0000-000000000000}"/>
          </ac:spMkLst>
        </pc:spChg>
      </pc:sldChg>
      <pc:sldChg chg="addSp modSp mod">
        <pc:chgData name="AAYUSH SINGH" userId="62f14ec854ae5da0" providerId="LiveId" clId="{87F00338-0600-49C2-B9FB-8B047CF8579B}" dt="2026-04-28T05:13:34.791" v="135" actId="14100"/>
        <pc:sldMkLst>
          <pc:docMk/>
          <pc:sldMk cId="0" sldId="265"/>
        </pc:sldMkLst>
        <pc:spChg chg="mod">
          <ac:chgData name="AAYUSH SINGH" userId="62f14ec854ae5da0" providerId="LiveId" clId="{87F00338-0600-49C2-B9FB-8B047CF8579B}" dt="2026-04-28T04:54:44.246" v="53" actId="20577"/>
          <ac:spMkLst>
            <pc:docMk/>
            <pc:sldMk cId="0" sldId="265"/>
            <ac:spMk id="3" creationId="{00000000-0000-0000-0000-000000000000}"/>
          </ac:spMkLst>
        </pc:spChg>
        <pc:spChg chg="add mod">
          <ac:chgData name="AAYUSH SINGH" userId="62f14ec854ae5da0" providerId="LiveId" clId="{87F00338-0600-49C2-B9FB-8B047CF8579B}" dt="2026-04-28T04:59:28.929" v="103" actId="1076"/>
          <ac:spMkLst>
            <pc:docMk/>
            <pc:sldMk cId="0" sldId="265"/>
            <ac:spMk id="35" creationId="{26C45FF2-5DA3-C3C8-9A48-209C6D66F91D}"/>
          </ac:spMkLst>
        </pc:spChg>
        <pc:spChg chg="add mod">
          <ac:chgData name="AAYUSH SINGH" userId="62f14ec854ae5da0" providerId="LiveId" clId="{87F00338-0600-49C2-B9FB-8B047CF8579B}" dt="2026-04-28T04:59:45.243" v="105" actId="1076"/>
          <ac:spMkLst>
            <pc:docMk/>
            <pc:sldMk cId="0" sldId="265"/>
            <ac:spMk id="36" creationId="{BE07ABF0-6633-5D86-6099-5ADAFCA91CE7}"/>
          </ac:spMkLst>
        </pc:spChg>
        <pc:spChg chg="add mod">
          <ac:chgData name="AAYUSH SINGH" userId="62f14ec854ae5da0" providerId="LiveId" clId="{87F00338-0600-49C2-B9FB-8B047CF8579B}" dt="2026-04-28T05:01:31.355" v="127" actId="14100"/>
          <ac:spMkLst>
            <pc:docMk/>
            <pc:sldMk cId="0" sldId="265"/>
            <ac:spMk id="37" creationId="{DE6F8293-B8E7-1333-F673-E8226C1FB987}"/>
          </ac:spMkLst>
        </pc:spChg>
        <pc:spChg chg="add mod">
          <ac:chgData name="AAYUSH SINGH" userId="62f14ec854ae5da0" providerId="LiveId" clId="{87F00338-0600-49C2-B9FB-8B047CF8579B}" dt="2026-04-28T05:13:34.791" v="135" actId="14100"/>
          <ac:spMkLst>
            <pc:docMk/>
            <pc:sldMk cId="0" sldId="265"/>
            <ac:spMk id="38" creationId="{738603C8-C10B-A7A1-0487-6E5ECAB62E70}"/>
          </ac:spMkLst>
        </pc:spChg>
      </pc:sldChg>
      <pc:sldChg chg="modSp mod">
        <pc:chgData name="AAYUSH SINGH" userId="62f14ec854ae5da0" providerId="LiveId" clId="{87F00338-0600-49C2-B9FB-8B047CF8579B}" dt="2026-04-28T04:54:50.101" v="58" actId="20577"/>
        <pc:sldMkLst>
          <pc:docMk/>
          <pc:sldMk cId="0" sldId="266"/>
        </pc:sldMkLst>
        <pc:spChg chg="mod">
          <ac:chgData name="AAYUSH SINGH" userId="62f14ec854ae5da0" providerId="LiveId" clId="{87F00338-0600-49C2-B9FB-8B047CF8579B}" dt="2026-04-28T04:54:50.101" v="58" actId="20577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AAYUSH SINGH" userId="62f14ec854ae5da0" providerId="LiveId" clId="{87F00338-0600-49C2-B9FB-8B047CF8579B}" dt="2026-04-28T04:54:54.738" v="63" actId="20577"/>
        <pc:sldMkLst>
          <pc:docMk/>
          <pc:sldMk cId="0" sldId="267"/>
        </pc:sldMkLst>
        <pc:spChg chg="mod">
          <ac:chgData name="AAYUSH SINGH" userId="62f14ec854ae5da0" providerId="LiveId" clId="{87F00338-0600-49C2-B9FB-8B047CF8579B}" dt="2026-04-28T04:54:54.738" v="63" actId="20577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AAYUSH SINGH" userId="62f14ec854ae5da0" providerId="LiveId" clId="{87F00338-0600-49C2-B9FB-8B047CF8579B}" dt="2026-04-28T04:54:59.082" v="68" actId="20577"/>
        <pc:sldMkLst>
          <pc:docMk/>
          <pc:sldMk cId="0" sldId="268"/>
        </pc:sldMkLst>
        <pc:spChg chg="mod">
          <ac:chgData name="AAYUSH SINGH" userId="62f14ec854ae5da0" providerId="LiveId" clId="{87F00338-0600-49C2-B9FB-8B047CF8579B}" dt="2026-04-28T04:54:59.082" v="68" actId="20577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AAYUSH SINGH" userId="62f14ec854ae5da0" providerId="LiveId" clId="{87F00338-0600-49C2-B9FB-8B047CF8579B}" dt="2026-04-28T04:55:03.474" v="73" actId="20577"/>
        <pc:sldMkLst>
          <pc:docMk/>
          <pc:sldMk cId="0" sldId="269"/>
        </pc:sldMkLst>
        <pc:spChg chg="mod">
          <ac:chgData name="AAYUSH SINGH" userId="62f14ec854ae5da0" providerId="LiveId" clId="{87F00338-0600-49C2-B9FB-8B047CF8579B}" dt="2026-04-28T04:55:03.474" v="73" actId="20577"/>
          <ac:spMkLst>
            <pc:docMk/>
            <pc:sldMk cId="0" sldId="269"/>
            <ac:spMk id="3" creationId="{00000000-0000-0000-0000-000000000000}"/>
          </ac:spMkLst>
        </pc:spChg>
      </pc:sldChg>
      <pc:sldChg chg="delSp modSp del mod">
        <pc:chgData name="AAYUSH SINGH" userId="62f14ec854ae5da0" providerId="LiveId" clId="{87F00338-0600-49C2-B9FB-8B047CF8579B}" dt="2026-04-28T04:57:12.202" v="96" actId="47"/>
        <pc:sldMkLst>
          <pc:docMk/>
          <pc:sldMk cId="2698692958" sldId="271"/>
        </pc:sldMkLst>
        <pc:picChg chg="del mod">
          <ac:chgData name="AAYUSH SINGH" userId="62f14ec854ae5da0" providerId="LiveId" clId="{87F00338-0600-49C2-B9FB-8B047CF8579B}" dt="2026-04-28T04:55:25.228" v="74" actId="21"/>
          <ac:picMkLst>
            <pc:docMk/>
            <pc:sldMk cId="2698692958" sldId="271"/>
            <ac:picMk id="36" creationId="{00000000-0000-0000-0000-000000000000}"/>
          </ac:picMkLst>
        </pc:picChg>
      </pc:sldChg>
      <pc:sldChg chg="addSp delSp modSp add mod">
        <pc:chgData name="AAYUSH SINGH" userId="62f14ec854ae5da0" providerId="LiveId" clId="{87F00338-0600-49C2-B9FB-8B047CF8579B}" dt="2026-04-28T04:57:07.939" v="95" actId="20577"/>
        <pc:sldMkLst>
          <pc:docMk/>
          <pc:sldMk cId="4050657673" sldId="272"/>
        </pc:sldMkLst>
        <pc:spChg chg="mod">
          <ac:chgData name="AAYUSH SINGH" userId="62f14ec854ae5da0" providerId="LiveId" clId="{87F00338-0600-49C2-B9FB-8B047CF8579B}" dt="2026-04-28T04:57:07.939" v="95" actId="20577"/>
          <ac:spMkLst>
            <pc:docMk/>
            <pc:sldMk cId="4050657673" sldId="272"/>
            <ac:spMk id="3" creationId="{7C51B4D2-90F8-6228-A65A-27368604817B}"/>
          </ac:spMkLst>
        </pc:spChg>
        <pc:spChg chg="del">
          <ac:chgData name="AAYUSH SINGH" userId="62f14ec854ae5da0" providerId="LiveId" clId="{87F00338-0600-49C2-B9FB-8B047CF8579B}" dt="2026-04-28T04:55:43.729" v="77" actId="478"/>
          <ac:spMkLst>
            <pc:docMk/>
            <pc:sldMk cId="4050657673" sldId="272"/>
            <ac:spMk id="4" creationId="{CC2668CF-5E1F-FAD7-93ED-3C3B50AD00E2}"/>
          </ac:spMkLst>
        </pc:spChg>
        <pc:spChg chg="del">
          <ac:chgData name="AAYUSH SINGH" userId="62f14ec854ae5da0" providerId="LiveId" clId="{87F00338-0600-49C2-B9FB-8B047CF8579B}" dt="2026-04-28T04:55:39.239" v="76" actId="478"/>
          <ac:spMkLst>
            <pc:docMk/>
            <pc:sldMk cId="4050657673" sldId="272"/>
            <ac:spMk id="5" creationId="{B9277B86-8ED2-E53F-18C6-63E276B309EE}"/>
          </ac:spMkLst>
        </pc:spChg>
        <pc:spChg chg="mod">
          <ac:chgData name="AAYUSH SINGH" userId="62f14ec854ae5da0" providerId="LiveId" clId="{87F00338-0600-49C2-B9FB-8B047CF8579B}" dt="2026-04-28T04:55:50.068" v="79" actId="6549"/>
          <ac:spMkLst>
            <pc:docMk/>
            <pc:sldMk cId="4050657673" sldId="272"/>
            <ac:spMk id="6" creationId="{43B07C6A-E2D1-808C-22BE-F22E5C59DD55}"/>
          </ac:spMkLst>
        </pc:spChg>
        <pc:picChg chg="add mod">
          <ac:chgData name="AAYUSH SINGH" userId="62f14ec854ae5da0" providerId="LiveId" clId="{87F00338-0600-49C2-B9FB-8B047CF8579B}" dt="2026-04-28T04:56:50.683" v="88" actId="14100"/>
          <ac:picMkLst>
            <pc:docMk/>
            <pc:sldMk cId="4050657673" sldId="272"/>
            <ac:picMk id="36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0864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C8145-3985-86BC-0009-A7E2F46F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0B35C7-C72A-18D3-6DCE-55353F7C58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0C0F62-CB16-EDF3-8ACF-30B2F587DE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34DD0-9C4A-759B-2EDC-512DF12996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9573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manishkr1754/cardekho-used-car-data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olab.research.google.com/drive/1aw9IJHE3xRALQsGdOGIs6m8DLs7U6XIN?usp=sharing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30f28beff39bd0678.gradio.live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manishkr1754/cardekho-used-car-data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cardekho.com/" TargetMode="External"/><Relationship Id="rId4" Type="http://schemas.openxmlformats.org/officeDocument/2006/relationships/hyperlink" Target="https://scikit-learn.org/stable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208476" y="-1371600"/>
            <a:ext cx="2221523" cy="820615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06B6D4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595797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82731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Data Science  |  PBL ETE Assessment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218158" y="1630934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30107" y="2136225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Used Car Price Predictor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005840" y="3083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Valuation using Machine Learning &amp; Gradient Boosting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90520" y="3652393"/>
            <a:ext cx="365760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3829050"/>
            <a:ext cx="1280160" cy="82296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64826" y="3751157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15K+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4186" y="421741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003973" y="3816350"/>
            <a:ext cx="1280160" cy="82296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963333" y="393369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94%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983653" y="4201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85547" y="3821684"/>
            <a:ext cx="1280160" cy="82296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24586" y="3883914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44907" y="4172077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61947" y="3789680"/>
            <a:ext cx="1280160" cy="82296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184053" y="3922776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GBM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17920" y="4189159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1440" y="478231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Aayush Singh  |  Roll No.: 25SCS1003004271</a:t>
            </a:r>
            <a:endParaRPr lang="en-US" sz="1200" b="1" dirty="0"/>
          </a:p>
        </p:txBody>
      </p:sp>
      <p:sp>
        <p:nvSpPr>
          <p:cNvPr id="24" name="Text 22"/>
          <p:cNvSpPr/>
          <p:nvPr/>
        </p:nvSpPr>
        <p:spPr>
          <a:xfrm>
            <a:off x="4504266" y="47548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Dr. Ashish Sharma  |  Associate Professor, SCSE</a:t>
            </a:r>
            <a:endParaRPr lang="en-US" sz="1200" b="1" dirty="0"/>
          </a:p>
        </p:txBody>
      </p:sp>
      <p:sp>
        <p:nvSpPr>
          <p:cNvPr id="25" name="Shape 2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80CF220-987C-5B20-0410-FB6AC7F53D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12964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E22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54864"/>
            <a:ext cx="8686800" cy="5088636"/>
          </a:xfrm>
          <a:prstGeom prst="rect">
            <a:avLst/>
          </a:prstGeom>
          <a:solidFill>
            <a:srgbClr val="1A1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82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 Table of Contents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713232"/>
            <a:ext cx="8046720" cy="36576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0080" y="914400"/>
            <a:ext cx="347472" cy="34747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" y="95097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Existing Systems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1572768"/>
            <a:ext cx="347472" cy="34747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15727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" y="160934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231136"/>
            <a:ext cx="347472" cy="34747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22311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51560" y="22677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Workflow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2889504"/>
            <a:ext cx="347472" cy="34747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080" y="28895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29260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Technologies &amp; Environment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547872"/>
            <a:ext cx="347472" cy="34747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0080" y="35478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358444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206240"/>
            <a:ext cx="347472" cy="34747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0080" y="42062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424281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54880" y="914400"/>
            <a:ext cx="347472" cy="34747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754880" y="9144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66360" y="95097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54880" y="1572768"/>
            <a:ext cx="347472" cy="34747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754880" y="15727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66360" y="160934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Visualization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54880" y="2231136"/>
            <a:ext cx="347472" cy="34747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54880" y="22311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66360" y="226771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754880" y="2889504"/>
            <a:ext cx="347472" cy="34747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754880" y="28895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66360" y="29260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Key Learnings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754880" y="3547872"/>
            <a:ext cx="347472" cy="34747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754880" y="35478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66360" y="358444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Citations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Review of Existing Systems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78308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54864" cy="17830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10241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🧑‍💼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32688" y="102412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Experience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1417320"/>
            <a:ext cx="3337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car pricing is based on dealer experience and manual estimation — highly subjective and inconsistent.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114800" cy="178308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54864" cy="17830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46320" y="10241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67528" y="102412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Platforms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67528" y="1417320"/>
            <a:ext cx="3337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like OLX &amp; Cars24 provide only approximate price ranges without transparency.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4114800" cy="178308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4320" y="2880360"/>
            <a:ext cx="54864" cy="17830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11480" y="29900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32688" y="299008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Personalization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2688" y="3383280"/>
            <a:ext cx="3337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lack personalized prediction based on multiple car-specific features.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880360"/>
            <a:ext cx="4114800" cy="178308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709160" y="2880360"/>
            <a:ext cx="54864" cy="17830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46320" y="29900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67528" y="2990088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ML Adoption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67528" y="3383280"/>
            <a:ext cx="3337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machine learning for accurate vehicle valuation is largely unexplored in existing products.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Proposed Solution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22960"/>
            <a:ext cx="274320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91840" y="822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794760" y="84124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Prediction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794760" y="120700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Develops a machine learning-based system to estimate accurate car prices from historical data.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91840" y="1801368"/>
            <a:ext cx="5486400" cy="18288"/>
          </a:xfrm>
          <a:prstGeom prst="rect">
            <a:avLst/>
          </a:prstGeom>
          <a:solidFill>
            <a:srgbClr val="7C3AED">
              <a:alpha val="3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2918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3794760" y="189280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Multi-Feature Input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794760" y="225856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inputs like age, fuel type, brand, km driven, engine, power for holistic valuation.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2852928"/>
            <a:ext cx="5486400" cy="18288"/>
          </a:xfrm>
          <a:prstGeom prst="rect">
            <a:avLst/>
          </a:prstGeom>
          <a:solidFill>
            <a:srgbClr val="7C3AED">
              <a:alpha val="3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329184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3794760" y="294436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&amp; Unbiased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794760" y="331012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human bias by relying purely on patterns learned from 15,000+ real listings.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91840" y="3904488"/>
            <a:ext cx="5486400" cy="18288"/>
          </a:xfrm>
          <a:prstGeom prst="rect">
            <a:avLst/>
          </a:prstGeom>
          <a:solidFill>
            <a:srgbClr val="7C3AED">
              <a:alpha val="3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329184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3794760" y="399592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&amp; Seller Benefits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794760" y="436168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both buyers and sellers make confident, informed decisions in the used car market.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Methodology &amp; Workflow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82880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4320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Gathered dataset from CarDekho / Kaggle with 15,000+ Indian used car listings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743200" cy="182880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74320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91840" y="9875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291840" y="18745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data, handled missing values, removed inconsistencies and outliers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743200" cy="182880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126480" y="914400"/>
            <a:ext cx="274320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17920" y="9875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17920" y="18745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categorical variables, created derived features for better model input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2743200" cy="182880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2743200" cy="4572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65760" y="29992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474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65760" y="38862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Linear Regression, Decision Tree, Random Forest, and GBM models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2926080"/>
            <a:ext cx="2743200" cy="182880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200400" y="2926080"/>
            <a:ext cx="2743200" cy="4572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91840" y="29992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91840" y="3474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Testing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291840" y="38862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 70:30, trained models, applied cross-validation for reliability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2926080"/>
            <a:ext cx="2743200" cy="182880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126480" y="2926080"/>
            <a:ext cx="2743200" cy="4572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217920" y="29992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3474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Output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217920" y="38862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R², MAE, MSE — achieved 93.6% accuracy; deployed prediction output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 →  Preprocessing  →  Model Training  →  Evaluation  →  Prediction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A20188-B716-8E7C-C850-285D40F99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A98F7B6-493B-A68C-8400-5860099B8F97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C51B4D2-90F8-6228-A65A-27368604817B}"/>
              </a:ext>
            </a:extLst>
          </p:cNvPr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Methodology &amp; Workflow (CODE)</a:t>
            </a:r>
            <a:endParaRPr lang="en-US" sz="2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3B07C6A-E2D1-808C-22BE-F22E5C59DD55}"/>
              </a:ext>
            </a:extLst>
          </p:cNvPr>
          <p:cNvSpPr/>
          <p:nvPr/>
        </p:nvSpPr>
        <p:spPr>
          <a:xfrm>
            <a:off x="365760" y="9875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8BF8DBC-45EB-A31A-A8B0-2402ED6F136F}"/>
              </a:ext>
            </a:extLst>
          </p:cNvPr>
          <p:cNvSpPr/>
          <p:nvPr/>
        </p:nvSpPr>
        <p:spPr>
          <a:xfrm>
            <a:off x="36576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3A105B3-F18B-D396-CD34-A0D51B421DE6}"/>
              </a:ext>
            </a:extLst>
          </p:cNvPr>
          <p:cNvSpPr/>
          <p:nvPr/>
        </p:nvSpPr>
        <p:spPr>
          <a:xfrm>
            <a:off x="365760" y="18745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Gathered dataset from CarDekho / Kaggle with 15,000+ Indian used car listings</a:t>
            </a:r>
            <a:endParaRPr lang="en-US" sz="10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5661689-75DC-559F-447F-065121DB6361}"/>
              </a:ext>
            </a:extLst>
          </p:cNvPr>
          <p:cNvSpPr/>
          <p:nvPr/>
        </p:nvSpPr>
        <p:spPr>
          <a:xfrm>
            <a:off x="3200400" y="914400"/>
            <a:ext cx="2743200" cy="182880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7AEE552-548C-5C07-0581-64A7841FDE76}"/>
              </a:ext>
            </a:extLst>
          </p:cNvPr>
          <p:cNvSpPr/>
          <p:nvPr/>
        </p:nvSpPr>
        <p:spPr>
          <a:xfrm>
            <a:off x="3200400" y="914400"/>
            <a:ext cx="274320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86417BA-623A-27F1-2773-ADB1DAA179B3}"/>
              </a:ext>
            </a:extLst>
          </p:cNvPr>
          <p:cNvSpPr/>
          <p:nvPr/>
        </p:nvSpPr>
        <p:spPr>
          <a:xfrm>
            <a:off x="3291840" y="9875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02</a:t>
            </a:r>
            <a:endParaRPr lang="en-US" sz="11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E5F1BF9-C5B7-9887-1FF8-E6799387061D}"/>
              </a:ext>
            </a:extLst>
          </p:cNvPr>
          <p:cNvSpPr/>
          <p:nvPr/>
        </p:nvSpPr>
        <p:spPr>
          <a:xfrm>
            <a:off x="32918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5598F4D-A99F-3A03-6E0B-400F2F906A20}"/>
              </a:ext>
            </a:extLst>
          </p:cNvPr>
          <p:cNvSpPr/>
          <p:nvPr/>
        </p:nvSpPr>
        <p:spPr>
          <a:xfrm>
            <a:off x="3291840" y="18745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data, handled missing values, removed inconsistencies and outliers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463719E-076D-E0C0-CFE0-3E3A079E609E}"/>
              </a:ext>
            </a:extLst>
          </p:cNvPr>
          <p:cNvSpPr/>
          <p:nvPr/>
        </p:nvSpPr>
        <p:spPr>
          <a:xfrm>
            <a:off x="6126480" y="914400"/>
            <a:ext cx="2743200" cy="182880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BB7B62E-A2DA-47C4-CA9C-801099B4E001}"/>
              </a:ext>
            </a:extLst>
          </p:cNvPr>
          <p:cNvSpPr/>
          <p:nvPr/>
        </p:nvSpPr>
        <p:spPr>
          <a:xfrm>
            <a:off x="6126480" y="914400"/>
            <a:ext cx="274320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7933C7D-1DC5-DBBF-2225-023315A38F1C}"/>
              </a:ext>
            </a:extLst>
          </p:cNvPr>
          <p:cNvSpPr/>
          <p:nvPr/>
        </p:nvSpPr>
        <p:spPr>
          <a:xfrm>
            <a:off x="6217920" y="9875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03</a:t>
            </a:r>
            <a:endParaRPr lang="en-US" sz="11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5D45AC0-C96E-C38D-1FD2-5308E47179BA}"/>
              </a:ext>
            </a:extLst>
          </p:cNvPr>
          <p:cNvSpPr/>
          <p:nvPr/>
        </p:nvSpPr>
        <p:spPr>
          <a:xfrm>
            <a:off x="621792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7A8FBCC-2B00-F7D5-9528-B9ED26582D1A}"/>
              </a:ext>
            </a:extLst>
          </p:cNvPr>
          <p:cNvSpPr/>
          <p:nvPr/>
        </p:nvSpPr>
        <p:spPr>
          <a:xfrm>
            <a:off x="6217920" y="18745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categorical variables, created derived features for better model input</a:t>
            </a:r>
            <a:endParaRPr lang="en-US" sz="10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CA75B02-DA4B-AE92-B550-992201F046A8}"/>
              </a:ext>
            </a:extLst>
          </p:cNvPr>
          <p:cNvSpPr/>
          <p:nvPr/>
        </p:nvSpPr>
        <p:spPr>
          <a:xfrm>
            <a:off x="274320" y="2926080"/>
            <a:ext cx="2743200" cy="182880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6C794746-48FC-82D6-7F47-15DACE774C23}"/>
              </a:ext>
            </a:extLst>
          </p:cNvPr>
          <p:cNvSpPr/>
          <p:nvPr/>
        </p:nvSpPr>
        <p:spPr>
          <a:xfrm>
            <a:off x="274320" y="2926080"/>
            <a:ext cx="2743200" cy="4572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92318D5-E127-7CBC-0633-0B4E595EDCA4}"/>
              </a:ext>
            </a:extLst>
          </p:cNvPr>
          <p:cNvSpPr/>
          <p:nvPr/>
        </p:nvSpPr>
        <p:spPr>
          <a:xfrm>
            <a:off x="365760" y="29992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04</a:t>
            </a:r>
            <a:endParaRPr lang="en-US" sz="11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20C29A6-F6CE-482E-D534-C4D54D7CF9C0}"/>
              </a:ext>
            </a:extLst>
          </p:cNvPr>
          <p:cNvSpPr/>
          <p:nvPr/>
        </p:nvSpPr>
        <p:spPr>
          <a:xfrm>
            <a:off x="365760" y="3474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2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700AFA9-844A-B945-04B3-846BC16085B7}"/>
              </a:ext>
            </a:extLst>
          </p:cNvPr>
          <p:cNvSpPr/>
          <p:nvPr/>
        </p:nvSpPr>
        <p:spPr>
          <a:xfrm>
            <a:off x="365760" y="38862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Linear Regression, Decision Tree, Random Forest, and GBM models</a:t>
            </a:r>
            <a:endParaRPr lang="en-US" sz="105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A70DDB4C-9F71-1A25-9890-B7C30445A6E8}"/>
              </a:ext>
            </a:extLst>
          </p:cNvPr>
          <p:cNvSpPr/>
          <p:nvPr/>
        </p:nvSpPr>
        <p:spPr>
          <a:xfrm>
            <a:off x="3200400" y="2926080"/>
            <a:ext cx="2743200" cy="182880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24A0826-5E75-F148-B98C-D59D60F1AF73}"/>
              </a:ext>
            </a:extLst>
          </p:cNvPr>
          <p:cNvSpPr/>
          <p:nvPr/>
        </p:nvSpPr>
        <p:spPr>
          <a:xfrm>
            <a:off x="3200400" y="2926080"/>
            <a:ext cx="2743200" cy="4572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143BF0A-1A6B-D53E-BE63-DF9304887AAF}"/>
              </a:ext>
            </a:extLst>
          </p:cNvPr>
          <p:cNvSpPr/>
          <p:nvPr/>
        </p:nvSpPr>
        <p:spPr>
          <a:xfrm>
            <a:off x="3291840" y="29992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05</a:t>
            </a:r>
            <a:endParaRPr lang="en-US" sz="11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CFBAA5D-274A-015A-21AA-1CE859C7C952}"/>
              </a:ext>
            </a:extLst>
          </p:cNvPr>
          <p:cNvSpPr/>
          <p:nvPr/>
        </p:nvSpPr>
        <p:spPr>
          <a:xfrm>
            <a:off x="3291840" y="3474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Testing</a:t>
            </a:r>
            <a:endParaRPr lang="en-US" sz="125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FDD62CF0-0F5F-FAEB-E52E-B93805B1CB1E}"/>
              </a:ext>
            </a:extLst>
          </p:cNvPr>
          <p:cNvSpPr/>
          <p:nvPr/>
        </p:nvSpPr>
        <p:spPr>
          <a:xfrm>
            <a:off x="3291840" y="38862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 70:30, trained models, applied cross-validation for reliability</a:t>
            </a:r>
            <a:endParaRPr lang="en-US" sz="105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01822BE7-658E-737C-555D-210BD429C1F1}"/>
              </a:ext>
            </a:extLst>
          </p:cNvPr>
          <p:cNvSpPr/>
          <p:nvPr/>
        </p:nvSpPr>
        <p:spPr>
          <a:xfrm>
            <a:off x="6126480" y="2926080"/>
            <a:ext cx="2743200" cy="182880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1A5C15A2-EC4B-702F-94CC-064A5CA9460B}"/>
              </a:ext>
            </a:extLst>
          </p:cNvPr>
          <p:cNvSpPr/>
          <p:nvPr/>
        </p:nvSpPr>
        <p:spPr>
          <a:xfrm>
            <a:off x="6126480" y="2926080"/>
            <a:ext cx="2743200" cy="4572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DEBA7648-48B4-ECEA-7B75-63E12429E0D8}"/>
              </a:ext>
            </a:extLst>
          </p:cNvPr>
          <p:cNvSpPr/>
          <p:nvPr/>
        </p:nvSpPr>
        <p:spPr>
          <a:xfrm>
            <a:off x="6217920" y="29992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06</a:t>
            </a:r>
            <a:endParaRPr lang="en-US" sz="11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85858FC-D2D2-84DA-256F-5A47DD551ACC}"/>
              </a:ext>
            </a:extLst>
          </p:cNvPr>
          <p:cNvSpPr/>
          <p:nvPr/>
        </p:nvSpPr>
        <p:spPr>
          <a:xfrm>
            <a:off x="6217920" y="3474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Output</a:t>
            </a:r>
            <a:endParaRPr lang="en-US" sz="125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2E22EFD5-0A6C-2D4C-AED9-747ECEDA8465}"/>
              </a:ext>
            </a:extLst>
          </p:cNvPr>
          <p:cNvSpPr/>
          <p:nvPr/>
        </p:nvSpPr>
        <p:spPr>
          <a:xfrm>
            <a:off x="6217920" y="38862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R², MAE, MSE — achieved 93.6% accuracy; deployed prediction output</a:t>
            </a:r>
            <a:endParaRPr lang="en-US" sz="105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FFC60D50-2ABF-A9C2-F773-8AFB32400BEB}"/>
              </a:ext>
            </a:extLst>
          </p:cNvPr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 →  Preprocessing  →  Model Training  →  Evaluation  →  Prediction</a:t>
            </a:r>
            <a:endParaRPr lang="en-US" sz="95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08FC7A85-0F1E-A383-3E8B-ED8528CC0F3B}"/>
              </a:ext>
            </a:extLst>
          </p:cNvPr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342"/>
          <a:stretch/>
        </p:blipFill>
        <p:spPr>
          <a:xfrm>
            <a:off x="274319" y="691622"/>
            <a:ext cx="8652803" cy="414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657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Tools, Technologies &amp; Environment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37160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432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🐍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32688" y="10789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2688" y="14173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743200" cy="137160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7432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91840" y="10515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🐼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858768" y="10789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58768" y="14173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 &amp; Manipulation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743200" cy="137160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126480" y="914400"/>
            <a:ext cx="27432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17920" y="10515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🔢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784848" y="107899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84848" y="14173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Operations &amp; Arrays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468880"/>
            <a:ext cx="2743200" cy="137160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74320" y="2468880"/>
            <a:ext cx="27432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65760" y="26060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32688" y="263347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2688" y="29718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&amp; Data Visualization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2468880"/>
            <a:ext cx="2743200" cy="137160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200400" y="2468880"/>
            <a:ext cx="27432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91840" y="26060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858768" y="263347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858768" y="29718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&amp; Pipelines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2468880"/>
            <a:ext cx="2743200" cy="137160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126480" y="2468880"/>
            <a:ext cx="274320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217920" y="26060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☁️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784848" y="2633472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Colab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29718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Notebook Environment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4114800"/>
            <a:ext cx="8595360" cy="77724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57200" y="4187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Important Links: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4622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Notebook: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44721" y="4487192"/>
            <a:ext cx="2926080" cy="228600"/>
          </a:xfrm>
          <a:prstGeom prst="rect">
            <a:avLst/>
          </a:prstGeom>
          <a:solidFill>
            <a:srgbClr val="1A1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633472" y="4462272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577840" y="44622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Dataset (CarDekho):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360920" y="4462272"/>
            <a:ext cx="1371600" cy="228600"/>
          </a:xfrm>
          <a:prstGeom prst="rect">
            <a:avLst/>
          </a:prstGeom>
          <a:solidFill>
            <a:srgbClr val="1A1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025750" y="4507992"/>
            <a:ext cx="187136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LINK</a:t>
            </a:r>
            <a:r>
              <a:rPr lang="en-US" sz="9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Box 43"/>
          <p:cNvSpPr txBox="1"/>
          <p:nvPr/>
        </p:nvSpPr>
        <p:spPr>
          <a:xfrm>
            <a:off x="2285868" y="4438793"/>
            <a:ext cx="10426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hlinkClick r:id="rId4"/>
              </a:rPr>
              <a:t>LINK</a:t>
            </a:r>
            <a:endParaRPr lang="en-US" sz="1200" i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Implementation Details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621792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54864" cy="62179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914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Import &amp; Preprocessing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207008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CarDekho dataset and performed comprehensive preprocessing to ensure data quality.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581912"/>
            <a:ext cx="8595360" cy="621792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1581912"/>
            <a:ext cx="54864" cy="62179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1673352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🧹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16276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Values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1920240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missing values, removed duplicate entries and inconsistencies across all feature columns.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295144"/>
            <a:ext cx="8595360" cy="621792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4320" y="2295144"/>
            <a:ext cx="54864" cy="62179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11480" y="2386584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🔤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234086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Encoding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633472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categorical data (brand, fuel, transmission) using Label Encoding and One-Hot Encoding.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008376"/>
            <a:ext cx="8595360" cy="621792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74320" y="3008376"/>
            <a:ext cx="54864" cy="62179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3099816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✂️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30540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346704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 into 70% training and 30% testing sets for unbiased model evaluation.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721608"/>
            <a:ext cx="8595360" cy="621792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74320" y="3721608"/>
            <a:ext cx="54864" cy="62179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11480" y="3813048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37673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Algorithms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059936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multiple regression algorithms to predict selling price from available features.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434840"/>
            <a:ext cx="8595360" cy="621792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274320" y="4434840"/>
            <a:ext cx="54864" cy="62179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11480" y="452628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14400" y="4480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Generation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4400" y="4773168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scatter plots, residual histograms, and feature importance charts for insight.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Model Development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51760" cy="292608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651760" cy="457200"/>
          </a:xfrm>
          <a:prstGeom prst="rect">
            <a:avLst/>
          </a:prstGeom>
          <a:solidFill>
            <a:srgbClr val="1E22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8961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interpretable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for non-linear data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3383280"/>
            <a:ext cx="2103120" cy="320040"/>
          </a:xfrm>
          <a:prstGeom prst="rect">
            <a:avLst/>
          </a:prstGeom>
          <a:solidFill>
            <a:srgbClr val="1A1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94360" y="34015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Baseline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822960"/>
            <a:ext cx="2651760" cy="292608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154680" y="822960"/>
            <a:ext cx="2651760" cy="457200"/>
          </a:xfrm>
          <a:prstGeom prst="rect">
            <a:avLst/>
          </a:prstGeom>
          <a:solidFill>
            <a:srgbClr val="1E22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46120" y="8961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246120" y="141732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Prone to overfitting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training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29000" y="3383280"/>
            <a:ext cx="2103120" cy="320040"/>
          </a:xfrm>
          <a:prstGeom prst="rect">
            <a:avLst/>
          </a:prstGeom>
          <a:solidFill>
            <a:srgbClr val="1A1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429000" y="34015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Moderate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89320" y="822960"/>
            <a:ext cx="2651760" cy="292608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989320" y="822960"/>
            <a:ext cx="265176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80760" y="8961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080760" y="141732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trees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overfitting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accurate predictions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3383280"/>
            <a:ext cx="210312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263640" y="34015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Strong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840480"/>
            <a:ext cx="8503920" cy="1005840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20040" y="3840480"/>
            <a:ext cx="54864" cy="10058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57200" y="39136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Final Model: Gradient Boosting Machine (GBM)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2519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 selected for its superior performance. Hyperparameter tuning applied for optimization. Model trained on all key features: Max Power, Age, Engine, Mileage, Brand, KM Driven, Transmission, Fuel, Seats.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Testing &amp; Validation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100584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6016752" cy="1005840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Set  —  70%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55080" y="11887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 —  30%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057400"/>
            <a:ext cx="2743200" cy="182880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4320" y="2057400"/>
            <a:ext cx="274320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" y="21762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Score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57860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93.6%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5760" y="31089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of determination — measures how well the model explains price variance.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2057400"/>
            <a:ext cx="2743200" cy="182880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00400" y="2057400"/>
            <a:ext cx="27432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91840" y="21762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257860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Low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291840" y="31089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 — average absolute difference between predicted and actual price.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0" y="2057400"/>
            <a:ext cx="2743200" cy="182880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126480" y="2057400"/>
            <a:ext cx="27432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217920" y="21762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257860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Minimized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217920" y="31089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Error — penalizes large prediction errors more heavily.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4069080"/>
            <a:ext cx="8595360" cy="77724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74320" y="4069080"/>
            <a:ext cx="54864" cy="7772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57200" y="41330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Cross-Validation: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45312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Cross-Validation was applied to ensure model reliability and avoid overfitting. Results are consistent across all folds, confirming strong generalization performance on unseen data.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Results &amp; Visualization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286000" cy="182880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28600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93.6%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" y="1920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88920" y="777240"/>
            <a:ext cx="6080760" cy="749808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88920" y="777240"/>
            <a:ext cx="45720" cy="74980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880360" y="923544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37560" y="83210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114300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prices closely match actual prices as shown by scatter plot near the perfect-fit diagonal line.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88920" y="1636776"/>
            <a:ext cx="6080760" cy="749808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88920" y="1636776"/>
            <a:ext cx="45720" cy="74980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880360" y="178308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37560" y="169164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Distribution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2002536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are normally distributed around zero (mean: -0.01L), confirming low and unbiased prediction error.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88920" y="2496312"/>
            <a:ext cx="6080760" cy="749808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788920" y="2496312"/>
            <a:ext cx="45720" cy="74980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880360" y="2642616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337560" y="2551176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Feature: Max Power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37560" y="2862072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Power (0.725 importance) is the most influential feature, followed by Age (0.157) and Engine (0.033).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88920" y="3355848"/>
            <a:ext cx="6080760" cy="749808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788920" y="3355848"/>
            <a:ext cx="45720" cy="74980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880360" y="350215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🕰️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337560" y="341071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Depreciation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37560" y="3721608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depreciation trend observed as vehicle age increases, with peak prices in the 1-2 year range.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88920" y="4215384"/>
            <a:ext cx="6080760" cy="749808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2788920" y="4215384"/>
            <a:ext cx="45720" cy="74980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880360" y="4361688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⛽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337560" y="427024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Type Insights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37560" y="4581144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 and Diesel dominate listings; Electric cars show highest average prices despite fewer listings.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2">
            <a:extLst>
              <a:ext uri="{FF2B5EF4-FFF2-40B4-BE49-F238E27FC236}">
                <a16:creationId xmlns:a16="http://schemas.microsoft.com/office/drawing/2014/main" id="{26C45FF2-5DA3-C3C8-9A48-209C6D66F91D}"/>
              </a:ext>
            </a:extLst>
          </p:cNvPr>
          <p:cNvSpPr/>
          <p:nvPr/>
        </p:nvSpPr>
        <p:spPr>
          <a:xfrm>
            <a:off x="274320" y="2802636"/>
            <a:ext cx="2286000" cy="182880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BE07ABF0-6633-5D86-6099-5ADAFCA91CE7}"/>
              </a:ext>
            </a:extLst>
          </p:cNvPr>
          <p:cNvSpPr/>
          <p:nvPr/>
        </p:nvSpPr>
        <p:spPr>
          <a:xfrm>
            <a:off x="274320" y="2796423"/>
            <a:ext cx="228600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6F8293-B8E7-1333-F673-E8226C1FB987}"/>
              </a:ext>
            </a:extLst>
          </p:cNvPr>
          <p:cNvSpPr txBox="1"/>
          <p:nvPr/>
        </p:nvSpPr>
        <p:spPr>
          <a:xfrm>
            <a:off x="545123" y="2949237"/>
            <a:ext cx="1688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7030A0"/>
                </a:solidFill>
              </a:rPr>
              <a:t>Demo Website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38603C8-C10B-A7A1-0487-6E5ECAB62E70}"/>
              </a:ext>
            </a:extLst>
          </p:cNvPr>
          <p:cNvSpPr txBox="1"/>
          <p:nvPr/>
        </p:nvSpPr>
        <p:spPr>
          <a:xfrm>
            <a:off x="274320" y="3502152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>
                <a:hlinkClick r:id="rId3"/>
              </a:rPr>
              <a:t>CarIQ</a:t>
            </a:r>
            <a:r>
              <a:rPr lang="en-IN" dirty="0">
                <a:hlinkClick r:id="rId3"/>
              </a:rPr>
              <a:t> Price Predictor</a:t>
            </a:r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Model Performance Dashboard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13232"/>
            <a:ext cx="8595360" cy="4251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Future Enhancements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73152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92354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Deployment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26187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full-stack web application with interactive UI accessible to all users online.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709928"/>
            <a:ext cx="8595360" cy="73152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65760" y="1847088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65760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176479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Market 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10312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live market data feeds for dynamic, continuously updated price predictions.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551176"/>
            <a:ext cx="8595360" cy="73152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2688336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5760" y="2688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60604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94436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accuracy using neural networks and deep learning architectures for complex patterns.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392424"/>
            <a:ext cx="8595360" cy="73152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65760" y="3529584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65760" y="35295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📍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3447288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Features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78561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features such as location, vehicle condition, number of previous owners, and service history.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4233672"/>
            <a:ext cx="8595360" cy="73152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65760" y="4370832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65760" y="4370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" y="428853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462686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mobile-friendly interface so users can get instant valuations on their smartphones.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Conclusion &amp; Key Learnings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64008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4864" cy="6400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32688" y="1097280"/>
            <a:ext cx="7818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a complete car price prediction ML pipeline from raw data to deployment.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737360"/>
            <a:ext cx="8595360" cy="64008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4320" y="1737360"/>
            <a:ext cx="54864" cy="6400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114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32688" y="1874520"/>
            <a:ext cx="7818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significantly improves pricing accuracy over manual/heuristic methods.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514600"/>
            <a:ext cx="8595360" cy="64008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54864" cy="6400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32688" y="2651760"/>
            <a:ext cx="7818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Machine (GBM/Random Forest) delivered the best performance at 93.6% R².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291840"/>
            <a:ext cx="8595360" cy="64008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74320" y="3291840"/>
            <a:ext cx="54864" cy="6400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1148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🔁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32688" y="3429000"/>
            <a:ext cx="7818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hands-on experience in the full end-to-end ML workflow and lifecycle.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069080"/>
            <a:ext cx="8595360" cy="640080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74320" y="4069080"/>
            <a:ext cx="54864" cy="6400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1148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🛠️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32688" y="4206240"/>
            <a:ext cx="7818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skills developed in data preprocessing, feature engineering, and visualization.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828032"/>
            <a:ext cx="8595360" cy="237744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57200" y="4837176"/>
            <a:ext cx="8229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References &amp; Citations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896112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4864" cy="89611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1161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1005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134416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CarDekho Used Cars Dataset (Kaggle)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15,000+ Indian used car listings with features like brand, fuel type, age, km driven, engine, etc.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989320" y="1252728"/>
            <a:ext cx="2743200" cy="292608"/>
          </a:xfrm>
          <a:prstGeom prst="rect">
            <a:avLst/>
          </a:prstGeom>
          <a:solidFill>
            <a:srgbClr val="1A1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0" y="12618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LINK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1965960"/>
            <a:ext cx="8595360" cy="896112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74320" y="1965960"/>
            <a:ext cx="54864" cy="89611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11480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32688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2688" y="235000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Official Documentation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in Python — APIs for LinearRegression, RandomForest, GradientBoosting, cross_val_score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89320" y="2258568"/>
            <a:ext cx="2743200" cy="292608"/>
          </a:xfrm>
          <a:prstGeom prst="rect">
            <a:avLst/>
          </a:prstGeom>
          <a:solidFill>
            <a:srgbClr val="1A1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035040" y="22677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https://scikit-learn.org/stable</a:t>
            </a:r>
            <a:r>
              <a:rPr lang="en-US" sz="8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172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🔬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32688" y="3017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32688" y="335584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035040" y="32735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3058668"/>
            <a:ext cx="8595360" cy="955548"/>
          </a:xfrm>
          <a:prstGeom prst="rect">
            <a:avLst/>
          </a:prstGeom>
          <a:solidFill>
            <a:srgbClr val="1E22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92608" y="3074670"/>
            <a:ext cx="54864" cy="89611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02336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78408" y="306781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Sources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41832" y="338785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CarDekho.com — Used for market comparison and validation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OLX Autos — Reference for Indian used car market pricing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961888" y="3373374"/>
            <a:ext cx="2743200" cy="292608"/>
          </a:xfrm>
          <a:prstGeom prst="rect">
            <a:avLst/>
          </a:prstGeom>
          <a:solidFill>
            <a:srgbClr val="1A1D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044184" y="333527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https://www.cardekho.com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463040" y="-914400"/>
            <a:ext cx="6949440" cy="6400800"/>
          </a:xfrm>
          <a:prstGeom prst="ellipse">
            <a:avLst/>
          </a:prstGeom>
          <a:solidFill>
            <a:srgbClr val="7C3AED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486400" y="2743200"/>
            <a:ext cx="4572000" cy="457200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886200" y="64008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🚗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2743200" y="2697480"/>
            <a:ext cx="365760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3649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404164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43708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1260</Words>
  <Application>Microsoft Office PowerPoint</Application>
  <PresentationFormat>On-screen Show (16:9)</PresentationFormat>
  <Paragraphs>261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Used Car Price Predictor</dc:title>
  <dc:subject>PptxGenJS Presentation</dc:subject>
  <dc:creator>PptxGenJS</dc:creator>
  <cp:lastModifiedBy>AAYUSH SINGH</cp:lastModifiedBy>
  <cp:revision>10</cp:revision>
  <dcterms:created xsi:type="dcterms:W3CDTF">2026-04-27T18:26:32Z</dcterms:created>
  <dcterms:modified xsi:type="dcterms:W3CDTF">2026-04-28T06:23:49Z</dcterms:modified>
</cp:coreProperties>
</file>